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6366F1"/>
                </a:solidFill>
              </a:defRPr>
            </a:pPr>
            <a:r>
              <a:t>MACHINE LEARNING CASE STUDY</a:t>
            </a:r>
          </a:p>
          <a:p>
            <a:pPr>
              <a:defRPr sz="3600" b="1">
                <a:solidFill>
                  <a:srgbClr val="FFFFFF"/>
                </a:solidFill>
              </a:defRPr>
            </a:pPr>
            <a:r>
              <a:t>AI-Based Customer Purchase Prediction</a:t>
            </a:r>
          </a:p>
          <a:p>
            <a:pPr>
              <a:defRPr sz="2200">
                <a:solidFill>
                  <a:srgbClr val="94A3B8"/>
                </a:solidFill>
              </a:defRPr>
            </a:pPr>
            <a:r>
              <a:t>For a Newly Launched Unisex Skincare Product</a:t>
            </a:r>
          </a:p>
          <a:p>
            <a:br/>
            <a:pPr>
              <a:defRPr sz="1400">
                <a:solidFill>
                  <a:srgbClr val="CBD5E1"/>
                </a:solidFill>
              </a:defRPr>
            </a:pPr>
            <a:r>
              <a:t>Predicting purchase propensity, aggregating expected buyers across age groups, and defining targeted marketing strategy.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6366F1"/>
                </a:solidFill>
              </a:defRPr>
            </a:pPr>
            <a:r>
              <a:t>PROJECT AUTHORS (B.Tech CSE):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Tushar Jaiswal  •  Shatakshi Jaiswal  •  Sharafat  •  Garvit  •  Tanisha  •  Tanishq Saini  •  Astha  •  Mahima Kalra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Technologies: Python | Scikit-Learn | Pandas | Streamlit | Decision Tree | Random Forest | Logistic Regression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AI COSMETIC PURCHASE PREDICTION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Project Background &amp; Core Business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1. The Business Scenario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A cosmetics enterprise is introducing a new Unisex Skincare Product.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Marketing &amp; executive leadership need data-driven clarity: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'Which demographic age bracket holds the highest commercial potential?'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Direct blanket marketing is expensive; personalized targeting maximizes launch ROI.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5448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7373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2. The AI Formulation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9456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Binary Classification Target: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Purchased_New_Product = 1 (Yes)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Purchased_New_Product = 0 (No)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Rather than predicting age directly, we learn customer purchase behavior.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Model outputs purchase probability for every customer profile: P(Buy | X).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7373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3. Strategic 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Group likely buyers by Age Category: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18-25, 26-35, 36-45, 46-55, 56+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Sum predicted probabilities to forecast expected buyer volumes.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Deliver budget allocation recommendation and launch strategies to the CMO.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AI COSMETIC PURCHASE PREDICTION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Crucial Distinction: AI Prediction vs. Business Insight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🤖 What AI Does: Learn Behavior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</a:defRPr>
            </a:pPr>
            <a:r>
              <a:t>• AI models customer propensity from historical attributes (spending, tenure, income, demographics).</a:t>
            </a:r>
          </a:p>
          <a:p>
            <a:pPr>
              <a:defRPr sz="1350">
                <a:solidFill>
                  <a:srgbClr val="1E293B"/>
                </a:solidFill>
              </a:defRPr>
            </a:pP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• Evaluates individual likelihood using predict_proba():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  Customer A: 82% purchase likelihood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  Customer B: 35% purchase likelihood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  Customer C: 71% purchase likelihood</a:t>
            </a:r>
          </a:p>
          <a:p>
            <a:pPr>
              <a:defRPr sz="1350">
                <a:solidFill>
                  <a:srgbClr val="1E293B"/>
                </a:solidFill>
              </a:defRPr>
            </a:pP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• Avoids misleading direct age-group prediction because age is not the commercial decision outcome.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📈 What Business Analysis Does: Turn AI into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286000"/>
            <a:ext cx="47548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</a:defRPr>
            </a:pPr>
            <a:r>
              <a:t>• Aggregates individual probabilities across demographic cohorts:</a:t>
            </a:r>
          </a:p>
          <a:p>
            <a:pPr>
              <a:defRPr sz="1350">
                <a:solidFill>
                  <a:srgbClr val="1E293B"/>
                </a:solidFill>
              </a:defRPr>
            </a:pP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  Expected Buyers in Cohort = ∑ P(Purchase)</a:t>
            </a:r>
          </a:p>
          <a:p>
            <a:pPr>
              <a:defRPr sz="1350">
                <a:solidFill>
                  <a:srgbClr val="1E293B"/>
                </a:solidFill>
              </a:defRPr>
            </a:pP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• Determines the percentage market share of potential buyers per age group.</a:t>
            </a:r>
          </a:p>
          <a:p>
            <a:pPr>
              <a:defRPr sz="1350">
                <a:solidFill>
                  <a:srgbClr val="1E293B"/>
                </a:solidFill>
              </a:defRPr>
            </a:pP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• Informs real-world decisions: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  - Ad budget allocation by demographic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  - Digital marketing channel selection</a:t>
            </a:r>
          </a:p>
          <a:p>
            <a:pPr>
              <a:defRPr sz="1350">
                <a:solidFill>
                  <a:srgbClr val="1E293B"/>
                </a:solidFill>
              </a:defRPr>
            </a:pPr>
            <a:r>
              <a:t>  - Product positioning &amp; packaging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AI COSMETIC PURCHASE PREDICTION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Dataset Architecture &amp; Feature Matrix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457200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Customer Attributes (10,000 Samples)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411480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1E293B"/>
                </a:solidFill>
              </a:defRPr>
            </a:pPr>
            <a:r>
              <a:t>• sex: Biological sex / gender (Female, Male)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age_group: 18-25, 26-35, 36-45, 46-55, 56+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status: Account status (New, Active, Inactive)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tenure: Months with brand (Loyalty signal)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total: Cumulative past cosmetics spend ($)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region: North, South, East, West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income: Estimated annual personal income ($)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quantity: Units purchased in recent orders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purchased: Target variable (1 = Yes, 0 = No)</a:t>
            </a:r>
          </a:p>
          <a:p>
            <a:pPr>
              <a:defRPr sz="1250">
                <a:solidFill>
                  <a:srgbClr val="1E293B"/>
                </a:solidFill>
              </a:defRPr>
            </a:pPr>
            <a:r>
              <a:t>• Id: Excluded from training (Identifier only)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77840" y="1554480"/>
            <a:ext cx="5852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806440" y="1737360"/>
            <a:ext cx="5394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Strategic Age Cohort Segmentation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06440" y="2194560"/>
            <a:ext cx="53949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18–25 (Young Adults): Digital natives; high responsiveness to social media trends &amp; unisex concepts.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26–35 (Prime Adults): High disposable income; proactive preventative skincare routines.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36–45 (Mid-Age Adults): Focus on skin barrier health and wellness; prime recurring spenders.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46–55 (Older Adults): Established brand affinities; seek high-performance formulations.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56+ (Seniors): Premium stability; traditional brand loyalty.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AI COSMETIC PURCHASE PREDICTION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End-to-End Machine Learning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1. Data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10,000 customer records ingested with validation of required features.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54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7373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2. Preprocessing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28600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OneHotEncoder for categorical features; remainder passthrough for numerical features.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7373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3. Stratified Split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28600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80/20 train/test split with stratify=y to maintain balanced class proportions.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9319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41148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4. Multi-Model Training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66344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Logistic Regression (baseline), Decision Tree (visual), Random Forest (ensemble).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39319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41148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5. Probabilistic Eval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466344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predict_proba() scoring with Accuracy, Precision, Recall, F1, and ROC-AUC.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38160" y="3931920"/>
            <a:ext cx="3291840" cy="2194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66760" y="411480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6. Age Group Aggregation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466344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1E293B"/>
                </a:solidFill>
              </a:defRPr>
            </a:pPr>
            <a:r>
              <a:t>Sum purchase probabilities by age_group to calculate expected buyers &amp; market share.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AI COSMETIC PURCHASE PREDICTION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Model Benchmarking &amp; Performance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645920"/>
          <a:ext cx="1069848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  <a:gridCol w="1783080"/>
                <a:gridCol w="1783080"/>
                <a:gridCol w="1783080"/>
                <a:gridCol w="1783080"/>
              </a:tblGrid>
              <a:tr h="5257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Algorithm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</a:defRPr>
                      </a:pPr>
                      <a:r>
                        <a:t>Decision Tree (Depth=5)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</a:defRPr>
                      </a:pPr>
                      <a:r>
                        <a:t>76.5%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</a:defRPr>
                      </a:pPr>
                      <a:r>
                        <a:t>82.4%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</a:defRPr>
                      </a:pPr>
                      <a:r>
                        <a:t>89.1%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</a:defRPr>
                      </a:pPr>
                      <a:r>
                        <a:t>85.6%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</a:defRPr>
                      </a:pPr>
                      <a:r>
                        <a:t>0.778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</a:defRPr>
                      </a:pPr>
                      <a:r>
                        <a:t>78.2%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</a:defRPr>
                      </a:pPr>
                      <a:r>
                        <a:t>81.9%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</a:defRPr>
                      </a:pPr>
                      <a:r>
                        <a:t>92.8%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</a:defRPr>
                      </a:pPr>
                      <a:r>
                        <a:t>87.0%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>
                          <a:solidFill>
                            <a:srgbClr val="1E293B"/>
                          </a:solidFill>
                        </a:defRPr>
                      </a:pPr>
                      <a:r>
                        <a:t>0.804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E293B"/>
                          </a:solidFill>
                        </a:defRPr>
                      </a:pPr>
                      <a:r>
                        <a:t>Random Forest (Top Performer)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E293B"/>
                          </a:solidFill>
                        </a:defRPr>
                      </a:pPr>
                      <a:r>
                        <a:t>78.9%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E293B"/>
                          </a:solidFill>
                        </a:defRPr>
                      </a:pPr>
                      <a:r>
                        <a:t>83.1%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E293B"/>
                          </a:solidFill>
                        </a:defRPr>
                      </a:pPr>
                      <a:r>
                        <a:t>91.8%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E293B"/>
                          </a:solidFill>
                        </a:defRPr>
                      </a:pPr>
                      <a:r>
                        <a:t>87.2%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50" b="1">
                          <a:solidFill>
                            <a:srgbClr val="1E293B"/>
                          </a:solidFill>
                        </a:defRPr>
                      </a:pPr>
                      <a:r>
                        <a:t>0.821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429768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Key Evaluation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466344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High Recall across all models (&gt;89%): Essential for marketing so we capture the vast majority of interested buyers.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Random Forest delivers the highest ROC-AUC (0.821): Demonstrates superior probability discrimination.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Logistic Regression serves as a strong linear baseline with well-calibrated purchase probabilities.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AI COSMETIC PURCHASE PREDICTION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What Drives Customer Purchases? (Feature Importance)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1206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6634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Random Forest Top Predictors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1. total (Past Spending Volume) — ~32%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 Strongest predictor: past spending frequency is the best indicator of future product trials.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2. tenure (Account Longevity) — ~24%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 Customers with higher brand familiarity adopt new products with higher confidence.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3. income (Financial Capacity) — ~18%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 Higher disposable income correlates with willingness to test new skincare regimens.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4. age_group &amp; sex — ~14%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 Demographic affinity and unisex openness.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Strategic Takeaway for Marketing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Behavior Outweighs Demographics: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Historical brand relationship (tenure + cumulative spend) provides a far stronger signal than pure geography or gender alone.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Two-Tier Launch Strategy: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1. Phase 1 (Loyalty VIPs): Target high-tenure, high-spend existing customers regardless of age group for early buzz.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2. Phase 2 (Demographic Acquisition): Scale digital ads to the highest-potential age cohorts.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AI COSMETIC PURCHASE PREDICTION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Final Business Output: Expected Buyers by Age Category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1069848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8768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Age Category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Total Customers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Expected Buyers (∑ P)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Avg Probability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Share of Buyers (%)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26–35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3,400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2,650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77.9%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37.5% (Primary Target)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36–45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3,200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2,480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77.5%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E293B"/>
                          </a:solidFill>
                        </a:defRPr>
                      </a:pPr>
                      <a:r>
                        <a:t>35.1% (Secondary Target)</a:t>
                      </a:r>
                    </a:p>
                  </a:txBody>
                  <a:tcPr>
                    <a:solidFill>
                      <a:srgbClr val="F0FDF4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18–25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19.7% (Growth Cohort)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46–55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1,100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76.4%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11.9% (Niche Segment)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56+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500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380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76.0%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</a:defRPr>
                      </a:pPr>
                      <a:r>
                        <a:t>5.4% (Low Priority)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663440"/>
            <a:ext cx="10698480" cy="155448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4846320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Commercial Conclusion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5120640"/>
            <a:ext cx="10241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>
                <a:solidFill>
                  <a:srgbClr val="1E293B"/>
                </a:solidFill>
              </a:defRPr>
            </a:pPr>
            <a:r>
              <a:t>The 26–35 and 36–45 age categories represent over 72% of all expected product buyers. Conclusion: Launch campaigns and promotional expenditures should be concentrated primarily on the 26–45 adult demographic.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AI COSMETIC PURCHASE PREDICTION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Executive Marketing Recommendations &amp; Budget Allocation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Budget Allocation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40% → 26–35 Age Group (Primary Volume Driver)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35% → 36–45 Age Group (High Disposable Income)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15% → 18–25 Age Group (Trend Adoption &amp; Social Media Buzz)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10% → 46–55 &amp; 56+ (Targeted Email Loyalty)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5448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7373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Channel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9456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18–35 Cohort: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Instagram, TikTok, and YouTube influencer endorsements focusing on skincare simplicity and ingredient transparency.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36–45 Cohort: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Dermatologist reviews, LinkedIn health podcasts, and premium subscription email spotlights.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7373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Product Positioning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Unisex Branding: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Neutral, minimalist packaging (avoiding overtly gendered colors or hyper-masculine/feminine tropes).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Focus on Benefits: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Skin-barrier repair, hydration, and sun protection suitable for all skin profiles.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AI COSMETIC PURCHASE PREDICTION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Decision Threshold Optimization &amp; Unit Economics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Cost Asymmetry in Marketing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Standard 0.50 Threshold is Arbitrary: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In default ML classification, False Positives (FP) and False Negatives (FN) are weighted equally.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Real Business Asymmetry: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- False Positive (FP): Sending an ad/email to a non-buyer. Cost: ~$0.05.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- False Negative (FN): Missing an interested buyer. Lost Revenue: ~$35.00.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Cost of missing a buyer is ~700x higher than contacting an unlikely customer!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Threshold Tuning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286000"/>
            <a:ext cx="47548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Optimal Threshold Recommendation: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Lower decision threshold from 0.50 to 0.35 for low-cost digital marketing outreach.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Business Impact: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- Increases Recall from ~91% to &gt;97%.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- Captures maximum launch sales volume.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- For expensive direct-mail gift boxes, raise threshold to 0.65 to conserve physical sample budgets.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AI COSMETIC PURCHASE PREDICTION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Ethics, Fairness &amp; Responsible AI (Guide Section 10)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Propensity vs Stereotyping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Predictive Likelihood, Not Need: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The model forecasts commercial purchase propensity based on transactional habits.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Avoid Appearance Judgment: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It does NOT claim any age group, gender, or skin type 'needs' cosmetic alteration or has deficient skin.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55448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17373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Unisex Inclusivity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19456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Breaking Gender Stereotypes: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Skincare has historically carried gendered stigma. Unisex formulations normalize dermatological wellness for all genders.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Cross-Demographic Fairness: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Younger males show rapid adoption; older demographics must not be excluded through ageist language.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60" y="1554480"/>
            <a:ext cx="329184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1737360"/>
            <a:ext cx="28346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Data Privacy &amp; Governance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66760" y="2194560"/>
            <a:ext cx="2834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Customer Consent: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All personal income and spending data must be collected with transparent opt-in under privacy regulations.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Synthetic Data Validation: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Synthetic data enables safe classroom development without exposing sensitive PII.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6366F1"/>
                </a:solidFill>
              </a:defRPr>
            </a:pPr>
            <a:r>
              <a:t>AI COSMETIC PURCHASE PREDICTION</a:t>
            </a:r>
          </a:p>
          <a:p>
            <a:pPr>
              <a:defRPr sz="2200" b="1">
                <a:solidFill>
                  <a:srgbClr val="1E293B"/>
                </a:solidFill>
              </a:defRPr>
            </a:pPr>
            <a:r>
              <a:t>Interactive Application &amp; Future Scope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737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Interactive Streamlit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1945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Dashboard: Real-time customer KPIs and conversion charts.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Business Recommendation: Expected buyers per age group with decision threshold simulator.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Individual Predictor: Interactive purchase scoring for new customer profiles.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Model Benchmarking: Live side-by-side comparison of Decision Tree, Logistic Regression, and Random Forest.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554480"/>
            <a:ext cx="52120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737360"/>
            <a:ext cx="47548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500" b="1">
                <a:solidFill>
                  <a:srgbClr val="1E293B"/>
                </a:solidFill>
              </a:defRPr>
            </a:pPr>
            <a:r>
              <a:t>Future Scope &amp; Key Takeaway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19456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E293B"/>
                </a:solidFill>
              </a:defRPr>
            </a:pPr>
            <a:r>
              <a:t>• Future Enhancements: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- Hyperparameter tuning via Optuna / GridSearchCV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- Model explainability using SHAP values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- Real-world A/B testing on marketing email campaigns</a:t>
            </a:r>
          </a:p>
          <a:p>
            <a:pPr>
              <a:defRPr sz="1300">
                <a:solidFill>
                  <a:srgbClr val="1E293B"/>
                </a:solidFill>
              </a:defRPr>
            </a:pP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• Key Takeaway:</a:t>
            </a:r>
          </a:p>
          <a:p>
            <a:pPr>
              <a:defRPr sz="1300">
                <a:solidFill>
                  <a:srgbClr val="1E293B"/>
                </a:solidFill>
              </a:defRPr>
            </a:pPr>
            <a:r>
              <a:t>  The objective is not merely to find an age group. The true AI task is learning behavior, validating models, and turning purchase probabilities into responsible business decisions.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