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73152" cy="25603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280160"/>
            <a:ext cx="3474720" cy="384048"/>
          </a:xfrm>
          <a:prstGeom prst="roundRect">
            <a:avLst/>
          </a:prstGeom>
          <a:solidFill>
            <a:srgbClr val="1E1B4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35024"/>
            <a:ext cx="3474720" cy="320040"/>
          </a:xfrm>
          <a:prstGeom prst="rect">
            <a:avLst/>
          </a:prstGeom>
          <a:noFill/>
        </p:spPr>
        <p:txBody>
          <a:bodyPr wrap="none">
            <a:spAutoFit/>
          </a:bodyPr>
          <a:lstStyle/>
          <a:p>
            <a:pPr algn="ctr">
              <a:defRPr sz="1000" b="1">
                <a:solidFill>
                  <a:srgbClr val="A5B4FC"/>
                </a:solidFill>
              </a:defRPr>
            </a:pPr>
            <a:r>
              <a:t>MACHINE LEARNING CASE STUDY</a:t>
            </a:r>
          </a:p>
        </p:txBody>
      </p:sp>
      <p:sp>
        <p:nvSpPr>
          <p:cNvPr id="7" name="TextBox 6"/>
          <p:cNvSpPr txBox="1"/>
          <p:nvPr/>
        </p:nvSpPr>
        <p:spPr>
          <a:xfrm>
            <a:off x="1005840" y="1828800"/>
            <a:ext cx="10241280" cy="2103120"/>
          </a:xfrm>
          <a:prstGeom prst="rect">
            <a:avLst/>
          </a:prstGeom>
          <a:noFill/>
        </p:spPr>
        <p:txBody>
          <a:bodyPr wrap="square">
            <a:spAutoFit/>
          </a:bodyPr>
          <a:lstStyle/>
          <a:p>
            <a:pPr>
              <a:defRPr sz="3600" b="1">
                <a:solidFill>
                  <a:srgbClr val="FFFFFF"/>
                </a:solidFill>
              </a:defRPr>
            </a:pPr>
            <a:r>
              <a:t>AI-Based Customer Purchase Prediction</a:t>
            </a:r>
          </a:p>
          <a:p>
            <a:pPr>
              <a:defRPr sz="2200" b="1">
                <a:solidFill>
                  <a:srgbClr val="94A3B8"/>
                </a:solidFill>
              </a:defRPr>
            </a:pPr>
            <a:r>
              <a:t>For a Newly Launched Unisex Skincare Product</a:t>
            </a:r>
          </a:p>
          <a:p>
            <a:br/>
            <a:pPr>
              <a:defRPr sz="1300">
                <a:solidFill>
                  <a:srgbClr val="CBD5E1"/>
                </a:solidFill>
              </a:defRPr>
            </a:pPr>
            <a:r>
              <a:t>Predicting purchase propensity, aggregating expected buyers across age groups, and defining targeted marketing strategy.</a:t>
            </a:r>
          </a:p>
        </p:txBody>
      </p:sp>
      <p:sp>
        <p:nvSpPr>
          <p:cNvPr id="8" name="Rounded Rectangle 7"/>
          <p:cNvSpPr/>
          <p:nvPr/>
        </p:nvSpPr>
        <p:spPr>
          <a:xfrm>
            <a:off x="1005840" y="4297680"/>
            <a:ext cx="10241280" cy="1737360"/>
          </a:xfrm>
          <a:prstGeom prst="roundRect">
            <a:avLst/>
          </a:prstGeom>
          <a:solidFill>
            <a:srgbClr val="111827"/>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4434840"/>
            <a:ext cx="9692640" cy="1463040"/>
          </a:xfrm>
          <a:prstGeom prst="rect">
            <a:avLst/>
          </a:prstGeom>
          <a:noFill/>
        </p:spPr>
        <p:txBody>
          <a:bodyPr wrap="square">
            <a:spAutoFit/>
          </a:bodyPr>
          <a:lstStyle/>
          <a:p>
            <a:pPr>
              <a:defRPr sz="1050" b="1">
                <a:solidFill>
                  <a:srgbClr val="818CF8"/>
                </a:solidFill>
              </a:defRPr>
            </a:pPr>
            <a:r>
              <a:t>PROJECT AUTHORS (B.Tech Computer Science &amp; Engineering):</a:t>
            </a:r>
          </a:p>
          <a:p>
            <a:pPr>
              <a:defRPr sz="1300" b="1">
                <a:solidFill>
                  <a:srgbClr val="FFFFFF"/>
                </a:solidFill>
              </a:defRPr>
            </a:pPr>
            <a:r>
              <a:t>Tushar Jaiswal  •  Shatakshi Jaiswal  •  Sharafat  •  Garvit  •  Tanisha  •  Tanishq Saini  •  Astha  •  Mahima Kalra</a:t>
            </a:r>
          </a:p>
          <a:p>
            <a:br/>
            <a:pPr>
              <a:defRPr sz="1050">
                <a:solidFill>
                  <a:srgbClr val="94A3B8"/>
                </a:solidFill>
              </a:defRPr>
            </a:pPr>
            <a:r>
              <a:t>Core Stack: Python | Scikit-Learn | Pandas | Matplotlib | Streamlit | Decision Tree | Random Forest | Logistic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Business Context &amp; Unisex Skincare Dynamics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The Commercial Challenge</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The Challenge: A cosmetic company is launching a unisex skincare product. The marketing leadership asks:</a:t>
            </a:r>
          </a:p>
          <a:p>
            <a:pPr>
              <a:defRPr sz="1250">
                <a:solidFill>
                  <a:srgbClr val="0F172A"/>
                </a:solidFill>
              </a:defRPr>
            </a:pPr>
            <a:r>
              <a:t>  'Which demographic age bracket will yield the highest number of buyers?'</a:t>
            </a:r>
          </a:p>
          <a:p>
            <a:pPr>
              <a:defRPr sz="1250">
                <a:solidFill>
                  <a:srgbClr val="0F172A"/>
                </a:solidFill>
              </a:defRPr>
            </a:pPr>
          </a:p>
          <a:p>
            <a:pPr>
              <a:defRPr sz="1250">
                <a:solidFill>
                  <a:srgbClr val="0F172A"/>
                </a:solidFill>
              </a:defRPr>
            </a:pPr>
            <a:r>
              <a:t>• Why Mass Marketing Fails: Untargeted ad spend across all demographics leads to poor return on investment (ROI) and ad fatigue.</a:t>
            </a:r>
          </a:p>
          <a:p>
            <a:pPr>
              <a:defRPr sz="1250">
                <a:solidFill>
                  <a:srgbClr val="0F172A"/>
                </a:solidFill>
              </a:defRPr>
            </a:pPr>
          </a:p>
          <a:p>
            <a:pPr>
              <a:defRPr sz="1250">
                <a:solidFill>
                  <a:srgbClr val="0F172A"/>
                </a:solidFill>
              </a:defRPr>
            </a:pPr>
            <a:r>
              <a:t>• The Unisex Nuance: As shown in the chart, younger male demographics (18–35) demonstrate high conversion readiness for unisex skincare compared to older cohorts.</a:t>
            </a:r>
          </a:p>
          <a:p>
            <a:pPr>
              <a:defRPr sz="1250">
                <a:solidFill>
                  <a:srgbClr val="0F172A"/>
                </a:solidFill>
              </a:defRPr>
            </a:pPr>
          </a:p>
          <a:p>
            <a:pPr>
              <a:defRPr sz="1250">
                <a:solidFill>
                  <a:srgbClr val="0F172A"/>
                </a:solidFill>
              </a:defRPr>
            </a:pPr>
            <a:r>
              <a:t>• Solution: Deploy predictive AI to estimate individual customer purchase propensity and group expected demand.</a:t>
            </a:r>
          </a:p>
        </p:txBody>
      </p:sp>
      <p:pic>
        <p:nvPicPr>
          <p:cNvPr id="8" name="Picture 7" descr="eda_age_and_gender.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Core Concept: AI Prediction vs. Business Analysis</a:t>
            </a:r>
          </a:p>
        </p:txBody>
      </p:sp>
      <p:sp>
        <p:nvSpPr>
          <p:cNvPr id="5" name="Rounded Rectangle 4"/>
          <p:cNvSpPr/>
          <p:nvPr/>
        </p:nvSpPr>
        <p:spPr>
          <a:xfrm>
            <a:off x="731520" y="1463040"/>
            <a:ext cx="521208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663440" cy="457200"/>
          </a:xfrm>
          <a:prstGeom prst="rect">
            <a:avLst/>
          </a:prstGeom>
          <a:noFill/>
        </p:spPr>
        <p:txBody>
          <a:bodyPr wrap="square" lIns="0" tIns="0" rIns="0" bIns="0">
            <a:spAutoFit/>
          </a:bodyPr>
          <a:lstStyle/>
          <a:p>
            <a:pPr>
              <a:defRPr sz="1450" b="1">
                <a:solidFill>
                  <a:srgbClr val="0F172A"/>
                </a:solidFill>
              </a:defRPr>
            </a:pPr>
            <a:r>
              <a:t>🤖 Step 1: What AI Predicts (Individual)</a:t>
            </a:r>
          </a:p>
        </p:txBody>
      </p:sp>
      <p:sp>
        <p:nvSpPr>
          <p:cNvPr id="7" name="TextBox 6"/>
          <p:cNvSpPr txBox="1"/>
          <p:nvPr/>
        </p:nvSpPr>
        <p:spPr>
          <a:xfrm>
            <a:off x="1005840" y="2148840"/>
            <a:ext cx="4663440" cy="3931920"/>
          </a:xfrm>
          <a:prstGeom prst="rect">
            <a:avLst/>
          </a:prstGeom>
          <a:noFill/>
        </p:spPr>
        <p:txBody>
          <a:bodyPr wrap="square">
            <a:spAutoFit/>
          </a:bodyPr>
          <a:lstStyle/>
          <a:p>
            <a:pPr>
              <a:defRPr sz="1300">
                <a:solidFill>
                  <a:srgbClr val="0F172A"/>
                </a:solidFill>
              </a:defRPr>
            </a:pPr>
            <a:r>
              <a:t>• AI Learns Purchase Behavior:</a:t>
            </a:r>
          </a:p>
          <a:p>
            <a:pPr>
              <a:defRPr sz="1300">
                <a:solidFill>
                  <a:srgbClr val="0F172A"/>
                </a:solidFill>
              </a:defRPr>
            </a:pPr>
            <a:r>
              <a:t>  The model does NOT directly predict an age category, because age is a demographic attribute, not a commercial transaction decision.</a:t>
            </a:r>
          </a:p>
          <a:p>
            <a:pPr>
              <a:defRPr sz="1300">
                <a:solidFill>
                  <a:srgbClr val="0F172A"/>
                </a:solidFill>
              </a:defRPr>
            </a:pPr>
          </a:p>
          <a:p>
            <a:pPr>
              <a:defRPr sz="1300">
                <a:solidFill>
                  <a:srgbClr val="0F172A"/>
                </a:solidFill>
              </a:defRPr>
            </a:pPr>
            <a:r>
              <a:t>• Probabilistic Output:</a:t>
            </a:r>
          </a:p>
          <a:p>
            <a:pPr>
              <a:defRPr sz="1300">
                <a:solidFill>
                  <a:srgbClr val="0F172A"/>
                </a:solidFill>
              </a:defRPr>
            </a:pPr>
            <a:r>
              <a:t>  Instead, the classification model predicts each customer's individual purchase likelihood using predict_proba():</a:t>
            </a:r>
          </a:p>
          <a:p>
            <a:pPr>
              <a:defRPr sz="1300">
                <a:solidFill>
                  <a:srgbClr val="0F172A"/>
                </a:solidFill>
              </a:defRPr>
            </a:pPr>
            <a:r>
              <a:t>  - Customer A: 82% purchase likelihood</a:t>
            </a:r>
          </a:p>
          <a:p>
            <a:pPr>
              <a:defRPr sz="1300">
                <a:solidFill>
                  <a:srgbClr val="0F172A"/>
                </a:solidFill>
              </a:defRPr>
            </a:pPr>
            <a:r>
              <a:t>  - Customer B: 35% purchase likelihood</a:t>
            </a:r>
          </a:p>
          <a:p>
            <a:pPr>
              <a:defRPr sz="1300">
                <a:solidFill>
                  <a:srgbClr val="0F172A"/>
                </a:solidFill>
              </a:defRPr>
            </a:pPr>
            <a:r>
              <a:t>  - Customer C: 71% purchase likelihood</a:t>
            </a:r>
          </a:p>
          <a:p>
            <a:pPr>
              <a:defRPr sz="1300">
                <a:solidFill>
                  <a:srgbClr val="0F172A"/>
                </a:solidFill>
              </a:defRPr>
            </a:pPr>
          </a:p>
          <a:p>
            <a:pPr>
              <a:defRPr sz="1300">
                <a:solidFill>
                  <a:srgbClr val="0F172A"/>
                </a:solidFill>
              </a:defRPr>
            </a:pPr>
            <a:r>
              <a:t>• Preserves true demand signals without artificial binary rounding.</a:t>
            </a:r>
          </a:p>
        </p:txBody>
      </p:sp>
      <p:sp>
        <p:nvSpPr>
          <p:cNvPr id="8" name="Rounded Rectangle 7"/>
          <p:cNvSpPr/>
          <p:nvPr/>
        </p:nvSpPr>
        <p:spPr>
          <a:xfrm>
            <a:off x="6217920" y="1463040"/>
            <a:ext cx="521208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64208"/>
            <a:ext cx="4663440" cy="457200"/>
          </a:xfrm>
          <a:prstGeom prst="rect">
            <a:avLst/>
          </a:prstGeom>
          <a:noFill/>
        </p:spPr>
        <p:txBody>
          <a:bodyPr wrap="square" lIns="0" tIns="0" rIns="0" bIns="0">
            <a:spAutoFit/>
          </a:bodyPr>
          <a:lstStyle/>
          <a:p>
            <a:pPr>
              <a:defRPr sz="1450" b="1">
                <a:solidFill>
                  <a:srgbClr val="0F172A"/>
                </a:solidFill>
              </a:defRPr>
            </a:pPr>
            <a:r>
              <a:t>📈 Step 2: What Business Analysis Does (Cohort)</a:t>
            </a:r>
          </a:p>
        </p:txBody>
      </p:sp>
      <p:sp>
        <p:nvSpPr>
          <p:cNvPr id="10" name="TextBox 9"/>
          <p:cNvSpPr txBox="1"/>
          <p:nvPr/>
        </p:nvSpPr>
        <p:spPr>
          <a:xfrm>
            <a:off x="6492240" y="2148840"/>
            <a:ext cx="4663440" cy="3931920"/>
          </a:xfrm>
          <a:prstGeom prst="rect">
            <a:avLst/>
          </a:prstGeom>
          <a:noFill/>
        </p:spPr>
        <p:txBody>
          <a:bodyPr wrap="square">
            <a:spAutoFit/>
          </a:bodyPr>
          <a:lstStyle/>
          <a:p>
            <a:pPr>
              <a:defRPr sz="1300">
                <a:solidFill>
                  <a:srgbClr val="0F172A"/>
                </a:solidFill>
              </a:defRPr>
            </a:pPr>
            <a:r>
              <a:t>• Aggregating Continuous Demand:</a:t>
            </a:r>
          </a:p>
          <a:p>
            <a:pPr>
              <a:defRPr sz="1300">
                <a:solidFill>
                  <a:srgbClr val="0F172A"/>
                </a:solidFill>
              </a:defRPr>
            </a:pPr>
            <a:r>
              <a:t>  Business analysis sums predicted purchase probabilities across all customers within each age group:</a:t>
            </a:r>
          </a:p>
          <a:p>
            <a:pPr>
              <a:defRPr sz="1300">
                <a:solidFill>
                  <a:srgbClr val="0F172A"/>
                </a:solidFill>
              </a:defRPr>
            </a:pPr>
          </a:p>
          <a:p>
            <a:pPr>
              <a:defRPr sz="1300">
                <a:solidFill>
                  <a:srgbClr val="0F172A"/>
                </a:solidFill>
              </a:defRPr>
            </a:pPr>
            <a:r>
              <a:t>  Expected Buyers in Group k = ∑ P(Purchased = 1 | x_i)</a:t>
            </a:r>
          </a:p>
          <a:p>
            <a:pPr>
              <a:defRPr sz="1300">
                <a:solidFill>
                  <a:srgbClr val="0F172A"/>
                </a:solidFill>
              </a:defRPr>
            </a:pPr>
          </a:p>
          <a:p>
            <a:pPr>
              <a:defRPr sz="1300">
                <a:solidFill>
                  <a:srgbClr val="0F172A"/>
                </a:solidFill>
              </a:defRPr>
            </a:pPr>
            <a:r>
              <a:t>• Translates AI Scores into Strategy:</a:t>
            </a:r>
          </a:p>
          <a:p>
            <a:pPr>
              <a:defRPr sz="1300">
                <a:solidFill>
                  <a:srgbClr val="0F172A"/>
                </a:solidFill>
              </a:defRPr>
            </a:pPr>
            <a:r>
              <a:t>  - Forecasts total expected buyers per demographic</a:t>
            </a:r>
          </a:p>
          <a:p>
            <a:pPr>
              <a:defRPr sz="1300">
                <a:solidFill>
                  <a:srgbClr val="0F172A"/>
                </a:solidFill>
              </a:defRPr>
            </a:pPr>
            <a:r>
              <a:t>  - Calculates exact percentage market share</a:t>
            </a:r>
          </a:p>
          <a:p>
            <a:pPr>
              <a:defRPr sz="1300">
                <a:solidFill>
                  <a:srgbClr val="0F172A"/>
                </a:solidFill>
              </a:defRPr>
            </a:pPr>
            <a:r>
              <a:t>  - Informs executive advertising budget allocation and campaign channels.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Dataset Architecture &amp; Feature Matrix (10,000 Profiles)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Feature Schema (Data Dictionary)</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00">
                <a:solidFill>
                  <a:srgbClr val="0F172A"/>
                </a:solidFill>
              </a:defRPr>
            </a:pPr>
            <a:r>
              <a:t>• Id: Unique customer ID (dropped during training)</a:t>
            </a:r>
          </a:p>
          <a:p>
            <a:pPr>
              <a:defRPr sz="1200">
                <a:solidFill>
                  <a:srgbClr val="0F172A"/>
                </a:solidFill>
              </a:defRPr>
            </a:pPr>
            <a:r>
              <a:t>• sex: Female, Male (One-Hot Encoded)</a:t>
            </a:r>
          </a:p>
          <a:p>
            <a:pPr>
              <a:defRPr sz="1200">
                <a:solidFill>
                  <a:srgbClr val="0F172A"/>
                </a:solidFill>
              </a:defRPr>
            </a:pPr>
            <a:r>
              <a:t>• age_group: 18-25, 26-35, 36-45, 46-55, 56+</a:t>
            </a:r>
          </a:p>
          <a:p>
            <a:pPr>
              <a:defRPr sz="1200">
                <a:solidFill>
                  <a:srgbClr val="0F172A"/>
                </a:solidFill>
              </a:defRPr>
            </a:pPr>
            <a:r>
              <a:t>• status: Customer status (Active, Inactive, New)</a:t>
            </a:r>
          </a:p>
          <a:p>
            <a:pPr>
              <a:defRPr sz="1200">
                <a:solidFill>
                  <a:srgbClr val="0F172A"/>
                </a:solidFill>
              </a:defRPr>
            </a:pPr>
            <a:r>
              <a:t>• tenure: Months with brand (Loyalty signal)</a:t>
            </a:r>
          </a:p>
          <a:p>
            <a:pPr>
              <a:defRPr sz="1200">
                <a:solidFill>
                  <a:srgbClr val="0F172A"/>
                </a:solidFill>
              </a:defRPr>
            </a:pPr>
            <a:r>
              <a:t>• total: Cumulative past cosmetics spend ($)</a:t>
            </a:r>
          </a:p>
          <a:p>
            <a:pPr>
              <a:defRPr sz="1200">
                <a:solidFill>
                  <a:srgbClr val="0F172A"/>
                </a:solidFill>
              </a:defRPr>
            </a:pPr>
            <a:r>
              <a:t>• region: North, South, East, West</a:t>
            </a:r>
          </a:p>
          <a:p>
            <a:pPr>
              <a:defRPr sz="1200">
                <a:solidFill>
                  <a:srgbClr val="0F172A"/>
                </a:solidFill>
              </a:defRPr>
            </a:pPr>
            <a:r>
              <a:t>• income: Annual personal disposable income ($)</a:t>
            </a:r>
          </a:p>
          <a:p>
            <a:pPr>
              <a:defRPr sz="1200">
                <a:solidFill>
                  <a:srgbClr val="0F172A"/>
                </a:solidFill>
              </a:defRPr>
            </a:pPr>
            <a:r>
              <a:t>• quantity: Units purchased in recent orders</a:t>
            </a:r>
          </a:p>
          <a:p>
            <a:pPr>
              <a:defRPr sz="1200">
                <a:solidFill>
                  <a:srgbClr val="0F172A"/>
                </a:solidFill>
              </a:defRPr>
            </a:pPr>
            <a:r>
              <a:t>• purchased: Target variable (1 = Yes, 0 = No)</a:t>
            </a:r>
          </a:p>
        </p:txBody>
      </p:sp>
      <p:sp>
        <p:nvSpPr>
          <p:cNvPr id="8" name="Rounded Rectangle 7"/>
          <p:cNvSpPr/>
          <p:nvPr/>
        </p:nvSpPr>
        <p:spPr>
          <a:xfrm>
            <a:off x="6217920" y="1463040"/>
            <a:ext cx="521208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64208"/>
            <a:ext cx="4663440" cy="457200"/>
          </a:xfrm>
          <a:prstGeom prst="rect">
            <a:avLst/>
          </a:prstGeom>
          <a:noFill/>
        </p:spPr>
        <p:txBody>
          <a:bodyPr wrap="square" lIns="0" tIns="0" rIns="0" bIns="0">
            <a:spAutoFit/>
          </a:bodyPr>
          <a:lstStyle/>
          <a:p>
            <a:pPr>
              <a:defRPr sz="1450" b="1">
                <a:solidFill>
                  <a:srgbClr val="0F172A"/>
                </a:solidFill>
              </a:defRPr>
            </a:pPr>
            <a:r>
              <a:t>Strategic Demographic Segmentation</a:t>
            </a:r>
          </a:p>
        </p:txBody>
      </p:sp>
      <p:sp>
        <p:nvSpPr>
          <p:cNvPr id="10" name="TextBox 9"/>
          <p:cNvSpPr txBox="1"/>
          <p:nvPr/>
        </p:nvSpPr>
        <p:spPr>
          <a:xfrm>
            <a:off x="6492240" y="2057400"/>
            <a:ext cx="4663440" cy="4023360"/>
          </a:xfrm>
          <a:prstGeom prst="rect">
            <a:avLst/>
          </a:prstGeom>
          <a:noFill/>
        </p:spPr>
        <p:txBody>
          <a:bodyPr wrap="square">
            <a:spAutoFit/>
          </a:bodyPr>
          <a:lstStyle/>
          <a:p>
            <a:pPr>
              <a:defRPr sz="1250">
                <a:solidFill>
                  <a:srgbClr val="0F172A"/>
                </a:solidFill>
              </a:defRPr>
            </a:pPr>
            <a:r>
              <a:t>• 18–25 (Young Adults):</a:t>
            </a:r>
          </a:p>
          <a:p>
            <a:pPr>
              <a:defRPr sz="1250">
                <a:solidFill>
                  <a:srgbClr val="0F172A"/>
                </a:solidFill>
              </a:defRPr>
            </a:pPr>
            <a:r>
              <a:t>  Digital natives; rapid trend adoption; responsive to influencer marketing and gender-neutral skincare concepts.</a:t>
            </a:r>
          </a:p>
          <a:p>
            <a:pPr>
              <a:defRPr sz="1250">
                <a:solidFill>
                  <a:srgbClr val="0F172A"/>
                </a:solidFill>
              </a:defRPr>
            </a:pPr>
          </a:p>
          <a:p>
            <a:pPr>
              <a:defRPr sz="1250">
                <a:solidFill>
                  <a:srgbClr val="0F172A"/>
                </a:solidFill>
              </a:defRPr>
            </a:pPr>
            <a:r>
              <a:t>• 26–35 (Prime Career Professionals):</a:t>
            </a:r>
          </a:p>
          <a:p>
            <a:pPr>
              <a:defRPr sz="1250">
                <a:solidFill>
                  <a:srgbClr val="0F172A"/>
                </a:solidFill>
              </a:defRPr>
            </a:pPr>
            <a:r>
              <a:t>  High disposable income; proactive preventative skincare routines; primary volume driver.</a:t>
            </a:r>
          </a:p>
          <a:p>
            <a:pPr>
              <a:defRPr sz="1250">
                <a:solidFill>
                  <a:srgbClr val="0F172A"/>
                </a:solidFill>
              </a:defRPr>
            </a:pPr>
          </a:p>
          <a:p>
            <a:pPr>
              <a:defRPr sz="1250">
                <a:solidFill>
                  <a:srgbClr val="0F172A"/>
                </a:solidFill>
              </a:defRPr>
            </a:pPr>
            <a:r>
              <a:t>• 36–45 (Mid-Age Adults):</a:t>
            </a:r>
          </a:p>
          <a:p>
            <a:pPr>
              <a:defRPr sz="1250">
                <a:solidFill>
                  <a:srgbClr val="0F172A"/>
                </a:solidFill>
              </a:defRPr>
            </a:pPr>
            <a:r>
              <a:t>  Focus on barrier hydration and daily skin wellness; strong financial stability.</a:t>
            </a:r>
          </a:p>
          <a:p>
            <a:pPr>
              <a:defRPr sz="1250">
                <a:solidFill>
                  <a:srgbClr val="0F172A"/>
                </a:solidFill>
              </a:defRPr>
            </a:pPr>
          </a:p>
          <a:p>
            <a:pPr>
              <a:defRPr sz="1250">
                <a:solidFill>
                  <a:srgbClr val="0F172A"/>
                </a:solidFill>
              </a:defRPr>
            </a:pPr>
            <a:r>
              <a:t>• 46–55 &amp; 56+ (Mature &amp; Senior Cohorts):</a:t>
            </a:r>
          </a:p>
          <a:p>
            <a:pPr>
              <a:defRPr sz="1250">
                <a:solidFill>
                  <a:srgbClr val="0F172A"/>
                </a:solidFill>
              </a:defRPr>
            </a:pPr>
            <a:r>
              <a:t>  Established brand loyalty; targeted loyalty re-engagement.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End-to-End Machine Learning Workflow Pipeline</a:t>
            </a:r>
          </a:p>
        </p:txBody>
      </p:sp>
      <p:sp>
        <p:nvSpPr>
          <p:cNvPr id="5" name="Rounded Rectangle 4"/>
          <p:cNvSpPr/>
          <p:nvPr/>
        </p:nvSpPr>
        <p:spPr>
          <a:xfrm>
            <a:off x="731520" y="146304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2743200" cy="457200"/>
          </a:xfrm>
          <a:prstGeom prst="rect">
            <a:avLst/>
          </a:prstGeom>
          <a:noFill/>
        </p:spPr>
        <p:txBody>
          <a:bodyPr wrap="square" lIns="0" tIns="0" rIns="0" bIns="0">
            <a:spAutoFit/>
          </a:bodyPr>
          <a:lstStyle/>
          <a:p>
            <a:pPr>
              <a:defRPr sz="1450" b="1">
                <a:solidFill>
                  <a:srgbClr val="0F172A"/>
                </a:solidFill>
              </a:defRPr>
            </a:pPr>
            <a:r>
              <a:t>1. Data Ingestion</a:t>
            </a:r>
          </a:p>
        </p:txBody>
      </p:sp>
      <p:sp>
        <p:nvSpPr>
          <p:cNvPr id="7" name="TextBox 6"/>
          <p:cNvSpPr txBox="1"/>
          <p:nvPr/>
        </p:nvSpPr>
        <p:spPr>
          <a:xfrm>
            <a:off x="960120" y="2194560"/>
            <a:ext cx="2834640" cy="1280160"/>
          </a:xfrm>
          <a:prstGeom prst="rect">
            <a:avLst/>
          </a:prstGeom>
          <a:noFill/>
        </p:spPr>
        <p:txBody>
          <a:bodyPr wrap="square">
            <a:spAutoFit/>
          </a:bodyPr>
          <a:lstStyle/>
          <a:p>
            <a:pPr>
              <a:defRPr sz="1250">
                <a:solidFill>
                  <a:srgbClr val="0F172A"/>
                </a:solidFill>
              </a:defRPr>
            </a:pPr>
            <a:r>
              <a:t>10,000 raw customer records loaded and verified.</a:t>
            </a:r>
          </a:p>
        </p:txBody>
      </p:sp>
      <p:sp>
        <p:nvSpPr>
          <p:cNvPr id="8" name="Rounded Rectangle 7"/>
          <p:cNvSpPr/>
          <p:nvPr/>
        </p:nvSpPr>
        <p:spPr>
          <a:xfrm>
            <a:off x="4434840" y="146304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1664208"/>
            <a:ext cx="2743200" cy="457200"/>
          </a:xfrm>
          <a:prstGeom prst="rect">
            <a:avLst/>
          </a:prstGeom>
          <a:noFill/>
        </p:spPr>
        <p:txBody>
          <a:bodyPr wrap="square" lIns="0" tIns="0" rIns="0" bIns="0">
            <a:spAutoFit/>
          </a:bodyPr>
          <a:lstStyle/>
          <a:p>
            <a:pPr>
              <a:defRPr sz="1450" b="1">
                <a:solidFill>
                  <a:srgbClr val="0F172A"/>
                </a:solidFill>
              </a:defRPr>
            </a:pPr>
            <a:r>
              <a:t>2. Data Cleaning</a:t>
            </a:r>
          </a:p>
        </p:txBody>
      </p:sp>
      <p:sp>
        <p:nvSpPr>
          <p:cNvPr id="10" name="TextBox 9"/>
          <p:cNvSpPr txBox="1"/>
          <p:nvPr/>
        </p:nvSpPr>
        <p:spPr>
          <a:xfrm>
            <a:off x="4663440" y="2194560"/>
            <a:ext cx="2834640" cy="1280160"/>
          </a:xfrm>
          <a:prstGeom prst="rect">
            <a:avLst/>
          </a:prstGeom>
          <a:noFill/>
        </p:spPr>
        <p:txBody>
          <a:bodyPr wrap="square">
            <a:spAutoFit/>
          </a:bodyPr>
          <a:lstStyle/>
          <a:p>
            <a:pPr>
              <a:defRPr sz="1250">
                <a:solidFill>
                  <a:srgbClr val="0F172A"/>
                </a:solidFill>
              </a:defRPr>
            </a:pPr>
            <a:r>
              <a:t>Imputed missing values, checked duplicates, clipped outliers.</a:t>
            </a:r>
          </a:p>
        </p:txBody>
      </p:sp>
      <p:sp>
        <p:nvSpPr>
          <p:cNvPr id="11" name="Rounded Rectangle 10"/>
          <p:cNvSpPr/>
          <p:nvPr/>
        </p:nvSpPr>
        <p:spPr>
          <a:xfrm>
            <a:off x="8138160" y="146304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664208"/>
            <a:ext cx="2743200" cy="457200"/>
          </a:xfrm>
          <a:prstGeom prst="rect">
            <a:avLst/>
          </a:prstGeom>
          <a:noFill/>
        </p:spPr>
        <p:txBody>
          <a:bodyPr wrap="square" lIns="0" tIns="0" rIns="0" bIns="0">
            <a:spAutoFit/>
          </a:bodyPr>
          <a:lstStyle/>
          <a:p>
            <a:pPr>
              <a:defRPr sz="1450" b="1">
                <a:solidFill>
                  <a:srgbClr val="0F172A"/>
                </a:solidFill>
              </a:defRPr>
            </a:pPr>
            <a:r>
              <a:t>3. Preprocessing</a:t>
            </a:r>
          </a:p>
        </p:txBody>
      </p:sp>
      <p:sp>
        <p:nvSpPr>
          <p:cNvPr id="13" name="TextBox 12"/>
          <p:cNvSpPr txBox="1"/>
          <p:nvPr/>
        </p:nvSpPr>
        <p:spPr>
          <a:xfrm>
            <a:off x="8366760" y="2194560"/>
            <a:ext cx="2834640" cy="1280160"/>
          </a:xfrm>
          <a:prstGeom prst="rect">
            <a:avLst/>
          </a:prstGeom>
          <a:noFill/>
        </p:spPr>
        <p:txBody>
          <a:bodyPr wrap="square">
            <a:spAutoFit/>
          </a:bodyPr>
          <a:lstStyle/>
          <a:p>
            <a:pPr>
              <a:defRPr sz="1250">
                <a:solidFill>
                  <a:srgbClr val="0F172A"/>
                </a:solidFill>
              </a:defRPr>
            </a:pPr>
            <a:r>
              <a:t>OneHotEncoder for categorical features; remainder passthrough.</a:t>
            </a:r>
          </a:p>
        </p:txBody>
      </p:sp>
      <p:sp>
        <p:nvSpPr>
          <p:cNvPr id="14" name="Rounded Rectangle 13"/>
          <p:cNvSpPr/>
          <p:nvPr/>
        </p:nvSpPr>
        <p:spPr>
          <a:xfrm>
            <a:off x="731520" y="393192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133088"/>
            <a:ext cx="2743200" cy="457200"/>
          </a:xfrm>
          <a:prstGeom prst="rect">
            <a:avLst/>
          </a:prstGeom>
          <a:noFill/>
        </p:spPr>
        <p:txBody>
          <a:bodyPr wrap="square" lIns="0" tIns="0" rIns="0" bIns="0">
            <a:spAutoFit/>
          </a:bodyPr>
          <a:lstStyle/>
          <a:p>
            <a:pPr>
              <a:defRPr sz="1450" b="1">
                <a:solidFill>
                  <a:srgbClr val="0F172A"/>
                </a:solidFill>
              </a:defRPr>
            </a:pPr>
            <a:r>
              <a:t>4. Stratified Split</a:t>
            </a:r>
          </a:p>
        </p:txBody>
      </p:sp>
      <p:sp>
        <p:nvSpPr>
          <p:cNvPr id="16" name="TextBox 15"/>
          <p:cNvSpPr txBox="1"/>
          <p:nvPr/>
        </p:nvSpPr>
        <p:spPr>
          <a:xfrm>
            <a:off x="960120" y="4663440"/>
            <a:ext cx="2834640" cy="1280160"/>
          </a:xfrm>
          <a:prstGeom prst="rect">
            <a:avLst/>
          </a:prstGeom>
          <a:noFill/>
        </p:spPr>
        <p:txBody>
          <a:bodyPr wrap="square">
            <a:spAutoFit/>
          </a:bodyPr>
          <a:lstStyle/>
          <a:p>
            <a:pPr>
              <a:defRPr sz="1250">
                <a:solidFill>
                  <a:srgbClr val="0F172A"/>
                </a:solidFill>
              </a:defRPr>
            </a:pPr>
            <a:r>
              <a:t>80/20 train/test split with stratify=y to preserve class balance.</a:t>
            </a:r>
          </a:p>
        </p:txBody>
      </p:sp>
      <p:sp>
        <p:nvSpPr>
          <p:cNvPr id="17" name="Rounded Rectangle 16"/>
          <p:cNvSpPr/>
          <p:nvPr/>
        </p:nvSpPr>
        <p:spPr>
          <a:xfrm>
            <a:off x="4434840" y="393192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4133088"/>
            <a:ext cx="2743200" cy="457200"/>
          </a:xfrm>
          <a:prstGeom prst="rect">
            <a:avLst/>
          </a:prstGeom>
          <a:noFill/>
        </p:spPr>
        <p:txBody>
          <a:bodyPr wrap="square" lIns="0" tIns="0" rIns="0" bIns="0">
            <a:spAutoFit/>
          </a:bodyPr>
          <a:lstStyle/>
          <a:p>
            <a:pPr>
              <a:defRPr sz="1450" b="1">
                <a:solidFill>
                  <a:srgbClr val="0F172A"/>
                </a:solidFill>
              </a:defRPr>
            </a:pPr>
            <a:r>
              <a:t>5. Multi-Model Training</a:t>
            </a:r>
          </a:p>
        </p:txBody>
      </p:sp>
      <p:sp>
        <p:nvSpPr>
          <p:cNvPr id="19" name="TextBox 18"/>
          <p:cNvSpPr txBox="1"/>
          <p:nvPr/>
        </p:nvSpPr>
        <p:spPr>
          <a:xfrm>
            <a:off x="4663440" y="4663440"/>
            <a:ext cx="2834640" cy="1280160"/>
          </a:xfrm>
          <a:prstGeom prst="rect">
            <a:avLst/>
          </a:prstGeom>
          <a:noFill/>
        </p:spPr>
        <p:txBody>
          <a:bodyPr wrap="square">
            <a:spAutoFit/>
          </a:bodyPr>
          <a:lstStyle/>
          <a:p>
            <a:pPr>
              <a:defRPr sz="1250">
                <a:solidFill>
                  <a:srgbClr val="0F172A"/>
                </a:solidFill>
              </a:defRPr>
            </a:pPr>
            <a:r>
              <a:t>Trained Logistic Regression, Decision Tree, and Random Forest.</a:t>
            </a:r>
          </a:p>
        </p:txBody>
      </p:sp>
      <p:sp>
        <p:nvSpPr>
          <p:cNvPr id="20" name="Rounded Rectangle 19"/>
          <p:cNvSpPr/>
          <p:nvPr/>
        </p:nvSpPr>
        <p:spPr>
          <a:xfrm>
            <a:off x="8138160" y="3931920"/>
            <a:ext cx="3291840" cy="219456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4133088"/>
            <a:ext cx="2743200" cy="457200"/>
          </a:xfrm>
          <a:prstGeom prst="rect">
            <a:avLst/>
          </a:prstGeom>
          <a:noFill/>
        </p:spPr>
        <p:txBody>
          <a:bodyPr wrap="square" lIns="0" tIns="0" rIns="0" bIns="0">
            <a:spAutoFit/>
          </a:bodyPr>
          <a:lstStyle/>
          <a:p>
            <a:pPr>
              <a:defRPr sz="1450" b="1">
                <a:solidFill>
                  <a:srgbClr val="0F172A"/>
                </a:solidFill>
              </a:defRPr>
            </a:pPr>
            <a:r>
              <a:t>6. Business Aggregation</a:t>
            </a:r>
          </a:p>
        </p:txBody>
      </p:sp>
      <p:sp>
        <p:nvSpPr>
          <p:cNvPr id="22" name="TextBox 21"/>
          <p:cNvSpPr txBox="1"/>
          <p:nvPr/>
        </p:nvSpPr>
        <p:spPr>
          <a:xfrm>
            <a:off x="8366760" y="4663440"/>
            <a:ext cx="2834640" cy="1280160"/>
          </a:xfrm>
          <a:prstGeom prst="rect">
            <a:avLst/>
          </a:prstGeom>
          <a:noFill/>
        </p:spPr>
        <p:txBody>
          <a:bodyPr wrap="square">
            <a:spAutoFit/>
          </a:bodyPr>
          <a:lstStyle/>
          <a:p>
            <a:pPr>
              <a:defRPr sz="1250">
                <a:solidFill>
                  <a:srgbClr val="0F172A"/>
                </a:solidFill>
              </a:defRPr>
            </a:pPr>
            <a:r>
              <a:t>Summed probabilities across age groups for market sizing.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Model Benchmarking &amp; Evaluation Metrics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Performance Summary</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High Recall Priority (&gt;89%):</a:t>
            </a:r>
          </a:p>
          <a:p>
            <a:pPr>
              <a:defRPr sz="1250">
                <a:solidFill>
                  <a:srgbClr val="0F172A"/>
                </a:solidFill>
              </a:defRPr>
            </a:pPr>
            <a:r>
              <a:t>  In a new product launch, missing an interested customer (False Negative) is far more expensive than sending an ad to a non-buyer.</a:t>
            </a:r>
          </a:p>
          <a:p>
            <a:pPr>
              <a:defRPr sz="1250">
                <a:solidFill>
                  <a:srgbClr val="0F172A"/>
                </a:solidFill>
              </a:defRPr>
            </a:pPr>
          </a:p>
          <a:p>
            <a:pPr>
              <a:defRPr sz="1250">
                <a:solidFill>
                  <a:srgbClr val="0F172A"/>
                </a:solidFill>
              </a:defRPr>
            </a:pPr>
            <a:r>
              <a:t>• Random Forest Emerges as Winner:</a:t>
            </a:r>
          </a:p>
          <a:p>
            <a:pPr>
              <a:defRPr sz="1250">
                <a:solidFill>
                  <a:srgbClr val="0F172A"/>
                </a:solidFill>
              </a:defRPr>
            </a:pPr>
            <a:r>
              <a:t>  - Accuracy: 78.9%</a:t>
            </a:r>
          </a:p>
          <a:p>
            <a:pPr>
              <a:defRPr sz="1250">
                <a:solidFill>
                  <a:srgbClr val="0F172A"/>
                </a:solidFill>
              </a:defRPr>
            </a:pPr>
            <a:r>
              <a:t>  - Precision: 83.1%</a:t>
            </a:r>
          </a:p>
          <a:p>
            <a:pPr>
              <a:defRPr sz="1250">
                <a:solidFill>
                  <a:srgbClr val="0F172A"/>
                </a:solidFill>
              </a:defRPr>
            </a:pPr>
            <a:r>
              <a:t>  - Recall: 91.8%</a:t>
            </a:r>
          </a:p>
          <a:p>
            <a:pPr>
              <a:defRPr sz="1250">
                <a:solidFill>
                  <a:srgbClr val="0F172A"/>
                </a:solidFill>
              </a:defRPr>
            </a:pPr>
            <a:r>
              <a:t>  - F1-Score: 87.2%</a:t>
            </a:r>
          </a:p>
          <a:p>
            <a:pPr>
              <a:defRPr sz="1250">
                <a:solidFill>
                  <a:srgbClr val="0F172A"/>
                </a:solidFill>
              </a:defRPr>
            </a:pPr>
          </a:p>
          <a:p>
            <a:pPr>
              <a:defRPr sz="1250">
                <a:solidFill>
                  <a:srgbClr val="0F172A"/>
                </a:solidFill>
              </a:defRPr>
            </a:pPr>
            <a:r>
              <a:t>• Logistic Regression Baseline:</a:t>
            </a:r>
          </a:p>
          <a:p>
            <a:pPr>
              <a:defRPr sz="1250">
                <a:solidFill>
                  <a:srgbClr val="0F172A"/>
                </a:solidFill>
              </a:defRPr>
            </a:pPr>
            <a:r>
              <a:t>  Provides strong linear benchmark with calibrated probabilities (F1 = 87.0%).</a:t>
            </a:r>
          </a:p>
        </p:txBody>
      </p:sp>
      <p:pic>
        <p:nvPicPr>
          <p:cNvPr id="8" name="Picture 7" descr="model_metrics_comparison.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Model Discrimination Capability (ROC-AUC Analysis)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Why ROC-AUC Matters</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Understanding ROC-AUC:</a:t>
            </a:r>
          </a:p>
          <a:p>
            <a:pPr>
              <a:defRPr sz="1250">
                <a:solidFill>
                  <a:srgbClr val="0F172A"/>
                </a:solidFill>
              </a:defRPr>
            </a:pPr>
            <a:r>
              <a:t>  The Receiver Operating Characteristic curve measures the model's ability to discriminate between buyers and non-buyers across all possible thresholds.</a:t>
            </a:r>
          </a:p>
          <a:p>
            <a:pPr>
              <a:defRPr sz="1250">
                <a:solidFill>
                  <a:srgbClr val="0F172A"/>
                </a:solidFill>
              </a:defRPr>
            </a:pPr>
          </a:p>
          <a:p>
            <a:pPr>
              <a:defRPr sz="1250">
                <a:solidFill>
                  <a:srgbClr val="0F172A"/>
                </a:solidFill>
              </a:defRPr>
            </a:pPr>
            <a:r>
              <a:t>• Score Comparison:</a:t>
            </a:r>
          </a:p>
          <a:p>
            <a:pPr>
              <a:defRPr sz="1250">
                <a:solidFill>
                  <a:srgbClr val="0F172A"/>
                </a:solidFill>
              </a:defRPr>
            </a:pPr>
            <a:r>
              <a:t>  - Random Forest: AUC = 0.821 (Best)</a:t>
            </a:r>
          </a:p>
          <a:p>
            <a:pPr>
              <a:defRPr sz="1250">
                <a:solidFill>
                  <a:srgbClr val="0F172A"/>
                </a:solidFill>
              </a:defRPr>
            </a:pPr>
            <a:r>
              <a:t>  - Logistic Regression: AUC = 0.804</a:t>
            </a:r>
          </a:p>
          <a:p>
            <a:pPr>
              <a:defRPr sz="1250">
                <a:solidFill>
                  <a:srgbClr val="0F172A"/>
                </a:solidFill>
              </a:defRPr>
            </a:pPr>
            <a:r>
              <a:t>  - Decision Tree: AUC = 0.778</a:t>
            </a:r>
          </a:p>
          <a:p>
            <a:pPr>
              <a:defRPr sz="1250">
                <a:solidFill>
                  <a:srgbClr val="0F172A"/>
                </a:solidFill>
              </a:defRPr>
            </a:pPr>
          </a:p>
          <a:p>
            <a:pPr>
              <a:defRPr sz="1250">
                <a:solidFill>
                  <a:srgbClr val="0F172A"/>
                </a:solidFill>
              </a:defRPr>
            </a:pPr>
            <a:r>
              <a:t>• Strategic Value:</a:t>
            </a:r>
          </a:p>
          <a:p>
            <a:pPr>
              <a:defRPr sz="1250">
                <a:solidFill>
                  <a:srgbClr val="0F172A"/>
                </a:solidFill>
              </a:defRPr>
            </a:pPr>
            <a:r>
              <a:t>  An AUC of 0.821 confirms our ensemble model reliably assigns higher purchase probabilities to true buyers over non-buyers.</a:t>
            </a:r>
          </a:p>
        </p:txBody>
      </p:sp>
      <p:pic>
        <p:nvPicPr>
          <p:cNvPr id="8" name="Picture 7" descr="model_roc_curves.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What Drives Purchases? (Feature Importance Analysis)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Behavior Outweighs Demographics</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Key Finding from Random Forest:</a:t>
            </a:r>
          </a:p>
          <a:p>
            <a:pPr>
              <a:defRPr sz="1250">
                <a:solidFill>
                  <a:srgbClr val="0F172A"/>
                </a:solidFill>
              </a:defRPr>
            </a:pPr>
            <a:r>
              <a:t>  Historical customer behavior is a far stronger predictor of purchase than demographic traits alone:</a:t>
            </a:r>
          </a:p>
          <a:p>
            <a:pPr>
              <a:defRPr sz="1250">
                <a:solidFill>
                  <a:srgbClr val="0F172A"/>
                </a:solidFill>
              </a:defRPr>
            </a:pPr>
          </a:p>
          <a:p>
            <a:pPr>
              <a:defRPr sz="1250">
                <a:solidFill>
                  <a:srgbClr val="0F172A"/>
                </a:solidFill>
              </a:defRPr>
            </a:pPr>
            <a:r>
              <a:t>  1. total (Past Spending Volume) — ~32%</a:t>
            </a:r>
          </a:p>
          <a:p>
            <a:pPr>
              <a:defRPr sz="1250">
                <a:solidFill>
                  <a:srgbClr val="0F172A"/>
                </a:solidFill>
              </a:defRPr>
            </a:pPr>
            <a:r>
              <a:t>     Past spending behavior is the best indicator of future product adoption.</a:t>
            </a:r>
          </a:p>
          <a:p>
            <a:pPr>
              <a:defRPr sz="1250">
                <a:solidFill>
                  <a:srgbClr val="0F172A"/>
                </a:solidFill>
              </a:defRPr>
            </a:pPr>
          </a:p>
          <a:p>
            <a:pPr>
              <a:defRPr sz="1250">
                <a:solidFill>
                  <a:srgbClr val="0F172A"/>
                </a:solidFill>
              </a:defRPr>
            </a:pPr>
            <a:r>
              <a:t>  2. tenure (Account Longevity) — ~24%</a:t>
            </a:r>
          </a:p>
          <a:p>
            <a:pPr>
              <a:defRPr sz="1250">
                <a:solidFill>
                  <a:srgbClr val="0F172A"/>
                </a:solidFill>
              </a:defRPr>
            </a:pPr>
            <a:r>
              <a:t>     Long-term customers trust the brand and adopt new launches faster.</a:t>
            </a:r>
          </a:p>
          <a:p>
            <a:pPr>
              <a:defRPr sz="1250">
                <a:solidFill>
                  <a:srgbClr val="0F172A"/>
                </a:solidFill>
              </a:defRPr>
            </a:pPr>
          </a:p>
          <a:p>
            <a:pPr>
              <a:defRPr sz="1250">
                <a:solidFill>
                  <a:srgbClr val="0F172A"/>
                </a:solidFill>
              </a:defRPr>
            </a:pPr>
            <a:r>
              <a:t>  3. income (Financial Capacity) — ~18%</a:t>
            </a:r>
          </a:p>
          <a:p>
            <a:pPr>
              <a:defRPr sz="1250">
                <a:solidFill>
                  <a:srgbClr val="0F172A"/>
                </a:solidFill>
              </a:defRPr>
            </a:pPr>
            <a:r>
              <a:t>     Disposable income enables discretionary skincare trials.</a:t>
            </a:r>
          </a:p>
        </p:txBody>
      </p:sp>
      <p:pic>
        <p:nvPicPr>
          <p:cNvPr id="8" name="Picture 7" descr="feature_importance.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Final Business Output: Expected Buyers by Age Category</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Commercial Demand Distribution</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Probability Summation Formulation:</a:t>
            </a:r>
          </a:p>
          <a:p>
            <a:pPr>
              <a:defRPr sz="1250">
                <a:solidFill>
                  <a:srgbClr val="0F172A"/>
                </a:solidFill>
              </a:defRPr>
            </a:pPr>
            <a:r>
              <a:t>  Summing P(Buy) across 10,000 profiles reveals the exact commercial demand breakdown:</a:t>
            </a:r>
          </a:p>
          <a:p>
            <a:pPr>
              <a:defRPr sz="1250">
                <a:solidFill>
                  <a:srgbClr val="0F172A"/>
                </a:solidFill>
              </a:defRPr>
            </a:pPr>
          </a:p>
          <a:p>
            <a:pPr>
              <a:defRPr sz="1250">
                <a:solidFill>
                  <a:srgbClr val="0F172A"/>
                </a:solidFill>
              </a:defRPr>
            </a:pPr>
            <a:r>
              <a:t>• The Winning Demographics:</a:t>
            </a:r>
          </a:p>
          <a:p>
            <a:pPr>
              <a:defRPr sz="1250">
                <a:solidFill>
                  <a:srgbClr val="0F172A"/>
                </a:solidFill>
              </a:defRPr>
            </a:pPr>
            <a:r>
              <a:t>  - 26–35 Age Group: 37.5% of total buyers (~2,650 customers)</a:t>
            </a:r>
          </a:p>
          <a:p>
            <a:pPr>
              <a:defRPr sz="1250">
                <a:solidFill>
                  <a:srgbClr val="0F172A"/>
                </a:solidFill>
              </a:defRPr>
            </a:pPr>
            <a:r>
              <a:t>  - 36–45 Age Group: 35.1% of total buyers (~2,480 customers)</a:t>
            </a:r>
          </a:p>
          <a:p>
            <a:pPr>
              <a:defRPr sz="1250">
                <a:solidFill>
                  <a:srgbClr val="0F172A"/>
                </a:solidFill>
              </a:defRPr>
            </a:pPr>
          </a:p>
          <a:p>
            <a:pPr>
              <a:defRPr sz="1250">
                <a:solidFill>
                  <a:srgbClr val="0F172A"/>
                </a:solidFill>
              </a:defRPr>
            </a:pPr>
            <a:r>
              <a:t>• Executive Conclusion:</a:t>
            </a:r>
          </a:p>
          <a:p>
            <a:pPr>
              <a:defRPr sz="1250">
                <a:solidFill>
                  <a:srgbClr val="0F172A"/>
                </a:solidFill>
              </a:defRPr>
            </a:pPr>
            <a:r>
              <a:t>  The 26–45 adult demographic represents over 72% of all potential product buyers and must receive the majority of marketing attention.</a:t>
            </a:r>
          </a:p>
        </p:txBody>
      </p:sp>
      <p:pic>
        <p:nvPicPr>
          <p:cNvPr id="8" name="Picture 7" descr="age_group_buyer_distribution.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Executive Marketing Recommendations &amp; Budget Split</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Actionable Launch Strategy</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Recommended Budget Split:</a:t>
            </a:r>
          </a:p>
          <a:p>
            <a:pPr>
              <a:defRPr sz="1250">
                <a:solidFill>
                  <a:srgbClr val="0F172A"/>
                </a:solidFill>
              </a:defRPr>
            </a:pPr>
            <a:r>
              <a:t>  - 40% → 26–35 Age Cohort (Primary Launch Engine)</a:t>
            </a:r>
          </a:p>
          <a:p>
            <a:pPr>
              <a:defRPr sz="1250">
                <a:solidFill>
                  <a:srgbClr val="0F172A"/>
                </a:solidFill>
              </a:defRPr>
            </a:pPr>
            <a:r>
              <a:t>  - 35% → 36–45 Age Cohort (High Disposable Income)</a:t>
            </a:r>
          </a:p>
          <a:p>
            <a:pPr>
              <a:defRPr sz="1250">
                <a:solidFill>
                  <a:srgbClr val="0F172A"/>
                </a:solidFill>
              </a:defRPr>
            </a:pPr>
            <a:r>
              <a:t>  - 15% → 18–25 Age Cohort (Viral Growth &amp; Buzz)</a:t>
            </a:r>
          </a:p>
          <a:p>
            <a:pPr>
              <a:defRPr sz="1250">
                <a:solidFill>
                  <a:srgbClr val="0F172A"/>
                </a:solidFill>
              </a:defRPr>
            </a:pPr>
            <a:r>
              <a:t>  - 10% → 46+ (Loyalty Email Campaigns)</a:t>
            </a:r>
          </a:p>
          <a:p>
            <a:pPr>
              <a:defRPr sz="1250">
                <a:solidFill>
                  <a:srgbClr val="0F172A"/>
                </a:solidFill>
              </a:defRPr>
            </a:pPr>
          </a:p>
          <a:p>
            <a:pPr>
              <a:defRPr sz="1250">
                <a:solidFill>
                  <a:srgbClr val="0F172A"/>
                </a:solidFill>
              </a:defRPr>
            </a:pPr>
            <a:r>
              <a:t>• Channel Strategy:</a:t>
            </a:r>
          </a:p>
          <a:p>
            <a:pPr>
              <a:defRPr sz="1250">
                <a:solidFill>
                  <a:srgbClr val="0F172A"/>
                </a:solidFill>
              </a:defRPr>
            </a:pPr>
            <a:r>
              <a:t>  - 18–35: Instagram Reels, TikTok, and YouTube influencer reviews emphasizing unisex simplicity.</a:t>
            </a:r>
          </a:p>
          <a:p>
            <a:pPr>
              <a:defRPr sz="1250">
                <a:solidFill>
                  <a:srgbClr val="0F172A"/>
                </a:solidFill>
              </a:defRPr>
            </a:pPr>
            <a:r>
              <a:t>  - 36–45: Dermatologist endorsements and premium subscription email spotlights focusing on skin barrier wellness.</a:t>
            </a:r>
          </a:p>
        </p:txBody>
      </p:sp>
      <p:pic>
        <p:nvPicPr>
          <p:cNvPr id="8" name="Picture 7" descr="budget_allocation_donut.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Decision Threshold Optimization &amp; Business Economics</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Cost Asymmetry in Marketing</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The Flaw of Default 0.50:</a:t>
            </a:r>
          </a:p>
          <a:p>
            <a:pPr>
              <a:defRPr sz="1250">
                <a:solidFill>
                  <a:srgbClr val="0F172A"/>
                </a:solidFill>
              </a:defRPr>
            </a:pPr>
            <a:r>
              <a:t>  A 0.50 threshold assumes False Positives and False Negatives have identical costs. In marketing, they do NOT.</a:t>
            </a:r>
          </a:p>
          <a:p>
            <a:pPr>
              <a:defRPr sz="1250">
                <a:solidFill>
                  <a:srgbClr val="0F172A"/>
                </a:solidFill>
              </a:defRPr>
            </a:pPr>
          </a:p>
          <a:p>
            <a:pPr>
              <a:defRPr sz="1250">
                <a:solidFill>
                  <a:srgbClr val="0F172A"/>
                </a:solidFill>
              </a:defRPr>
            </a:pPr>
            <a:r>
              <a:t>• The Economic Asymmetry:</a:t>
            </a:r>
          </a:p>
          <a:p>
            <a:pPr>
              <a:defRPr sz="1250">
                <a:solidFill>
                  <a:srgbClr val="0F172A"/>
                </a:solidFill>
              </a:defRPr>
            </a:pPr>
            <a:r>
              <a:t>  - False Positive (Targeting a non-buyer): Cost of digital ad = ~$0.05.</a:t>
            </a:r>
          </a:p>
          <a:p>
            <a:pPr>
              <a:defRPr sz="1250">
                <a:solidFill>
                  <a:srgbClr val="0F172A"/>
                </a:solidFill>
              </a:defRPr>
            </a:pPr>
            <a:r>
              <a:t>  - False Negative (Missing a real buyer): Lost gross margin = ~$35.00.</a:t>
            </a:r>
          </a:p>
          <a:p>
            <a:pPr>
              <a:defRPr sz="1250">
                <a:solidFill>
                  <a:srgbClr val="0F172A"/>
                </a:solidFill>
              </a:defRPr>
            </a:pPr>
          </a:p>
          <a:p>
            <a:pPr>
              <a:defRPr sz="1250">
                <a:solidFill>
                  <a:srgbClr val="0F172A"/>
                </a:solidFill>
              </a:defRPr>
            </a:pPr>
            <a:r>
              <a:t>• The Solution: Lower Cutoff to 0.35:</a:t>
            </a:r>
          </a:p>
          <a:p>
            <a:pPr>
              <a:defRPr sz="1250">
                <a:solidFill>
                  <a:srgbClr val="0F172A"/>
                </a:solidFill>
              </a:defRPr>
            </a:pPr>
            <a:r>
              <a:t>  Lowering the threshold to 0.35 boosts campaign recall to &gt;97%, ensuring almost zero buyers are left behind.</a:t>
            </a:r>
          </a:p>
        </p:txBody>
      </p:sp>
      <p:pic>
        <p:nvPicPr>
          <p:cNvPr id="8" name="Picture 7" descr="decision_threshold_tradeoff.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Confusion Matrix &amp; Error Analysis (Test Set)</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Model Prediction Audit</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Test Set Evaluation (2,000 Customers):</a:t>
            </a:r>
          </a:p>
          <a:p>
            <a:pPr>
              <a:defRPr sz="1250">
                <a:solidFill>
                  <a:srgbClr val="0F172A"/>
                </a:solidFill>
              </a:defRPr>
            </a:pPr>
            <a:r>
              <a:t>  The confusion matrix evaluates true positive conversions against misclassifications:</a:t>
            </a:r>
          </a:p>
          <a:p>
            <a:pPr>
              <a:defRPr sz="1250">
                <a:solidFill>
                  <a:srgbClr val="0F172A"/>
                </a:solidFill>
              </a:defRPr>
            </a:pPr>
          </a:p>
          <a:p>
            <a:pPr>
              <a:defRPr sz="1250">
                <a:solidFill>
                  <a:srgbClr val="0F172A"/>
                </a:solidFill>
              </a:defRPr>
            </a:pPr>
            <a:r>
              <a:t>  - True Positives (TP): High volume of correctly flagged buyers.</a:t>
            </a:r>
          </a:p>
          <a:p>
            <a:pPr>
              <a:defRPr sz="1250">
                <a:solidFill>
                  <a:srgbClr val="0F172A"/>
                </a:solidFill>
              </a:defRPr>
            </a:pPr>
            <a:r>
              <a:t>  - False Negatives (FN): Kept extremely low (&lt;9%), satisfying our goal of high recall.</a:t>
            </a:r>
          </a:p>
          <a:p>
            <a:pPr>
              <a:defRPr sz="1250">
                <a:solidFill>
                  <a:srgbClr val="0F172A"/>
                </a:solidFill>
              </a:defRPr>
            </a:pPr>
          </a:p>
          <a:p>
            <a:pPr>
              <a:defRPr sz="1250">
                <a:solidFill>
                  <a:srgbClr val="0F172A"/>
                </a:solidFill>
              </a:defRPr>
            </a:pPr>
            <a:r>
              <a:t>• Robust Generalization:</a:t>
            </a:r>
          </a:p>
          <a:p>
            <a:pPr>
              <a:defRPr sz="1250">
                <a:solidFill>
                  <a:srgbClr val="0F172A"/>
                </a:solidFill>
              </a:defRPr>
            </a:pPr>
            <a:r>
              <a:t>  The model demonstrates consistent accuracy without severe bias toward majority classes.</a:t>
            </a:r>
          </a:p>
        </p:txBody>
      </p:sp>
      <p:pic>
        <p:nvPicPr>
          <p:cNvPr id="8" name="Picture 7" descr="confusion_matrix_random_forest.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Ethics, Demographic Fairness &amp; Responsible AI (Guide Section 10)</a:t>
            </a:r>
          </a:p>
        </p:txBody>
      </p:sp>
      <p:sp>
        <p:nvSpPr>
          <p:cNvPr id="5" name="Rounded Rectangle 4"/>
          <p:cNvSpPr/>
          <p:nvPr/>
        </p:nvSpPr>
        <p:spPr>
          <a:xfrm>
            <a:off x="731520" y="1463040"/>
            <a:ext cx="32918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2743200" cy="457200"/>
          </a:xfrm>
          <a:prstGeom prst="rect">
            <a:avLst/>
          </a:prstGeom>
          <a:noFill/>
        </p:spPr>
        <p:txBody>
          <a:bodyPr wrap="square" lIns="0" tIns="0" rIns="0" bIns="0">
            <a:spAutoFit/>
          </a:bodyPr>
          <a:lstStyle/>
          <a:p>
            <a:pPr>
              <a:defRPr sz="1450" b="1">
                <a:solidFill>
                  <a:srgbClr val="0F172A"/>
                </a:solidFill>
              </a:defRPr>
            </a:pPr>
            <a:r>
              <a:t>1. Propensity vs Stereotyping</a:t>
            </a:r>
          </a:p>
        </p:txBody>
      </p:sp>
      <p:sp>
        <p:nvSpPr>
          <p:cNvPr id="7" name="TextBox 6"/>
          <p:cNvSpPr txBox="1"/>
          <p:nvPr/>
        </p:nvSpPr>
        <p:spPr>
          <a:xfrm>
            <a:off x="960120" y="2148840"/>
            <a:ext cx="2834640" cy="3840480"/>
          </a:xfrm>
          <a:prstGeom prst="rect">
            <a:avLst/>
          </a:prstGeom>
          <a:noFill/>
        </p:spPr>
        <p:txBody>
          <a:bodyPr wrap="square">
            <a:spAutoFit/>
          </a:bodyPr>
          <a:lstStyle/>
          <a:p>
            <a:pPr>
              <a:defRPr sz="1250">
                <a:solidFill>
                  <a:srgbClr val="0F172A"/>
                </a:solidFill>
              </a:defRPr>
            </a:pPr>
            <a:r>
              <a:t>• The model estimates commercial purchase propensity based on transactional habits.</a:t>
            </a:r>
          </a:p>
          <a:p>
            <a:pPr>
              <a:defRPr sz="1250">
                <a:solidFill>
                  <a:srgbClr val="0F172A"/>
                </a:solidFill>
              </a:defRPr>
            </a:pPr>
          </a:p>
          <a:p>
            <a:pPr>
              <a:defRPr sz="1250">
                <a:solidFill>
                  <a:srgbClr val="0F172A"/>
                </a:solidFill>
              </a:defRPr>
            </a:pPr>
            <a:r>
              <a:t>• It does NOT make any claim that any demographic, gender, or skin type 'needs' cosmetic alteration or has deficient skin.</a:t>
            </a:r>
          </a:p>
        </p:txBody>
      </p:sp>
      <p:sp>
        <p:nvSpPr>
          <p:cNvPr id="8" name="Rounded Rectangle 7"/>
          <p:cNvSpPr/>
          <p:nvPr/>
        </p:nvSpPr>
        <p:spPr>
          <a:xfrm>
            <a:off x="4434840" y="1463040"/>
            <a:ext cx="32918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1664208"/>
            <a:ext cx="2743200" cy="457200"/>
          </a:xfrm>
          <a:prstGeom prst="rect">
            <a:avLst/>
          </a:prstGeom>
          <a:noFill/>
        </p:spPr>
        <p:txBody>
          <a:bodyPr wrap="square" lIns="0" tIns="0" rIns="0" bIns="0">
            <a:spAutoFit/>
          </a:bodyPr>
          <a:lstStyle/>
          <a:p>
            <a:pPr>
              <a:defRPr sz="1450" b="1">
                <a:solidFill>
                  <a:srgbClr val="0F172A"/>
                </a:solidFill>
              </a:defRPr>
            </a:pPr>
            <a:r>
              <a:t>2. Unisex Skincare Inclusivity</a:t>
            </a:r>
          </a:p>
        </p:txBody>
      </p:sp>
      <p:sp>
        <p:nvSpPr>
          <p:cNvPr id="10" name="TextBox 9"/>
          <p:cNvSpPr txBox="1"/>
          <p:nvPr/>
        </p:nvSpPr>
        <p:spPr>
          <a:xfrm>
            <a:off x="4663440" y="2148840"/>
            <a:ext cx="2834640" cy="3840480"/>
          </a:xfrm>
          <a:prstGeom prst="rect">
            <a:avLst/>
          </a:prstGeom>
          <a:noFill/>
        </p:spPr>
        <p:txBody>
          <a:bodyPr wrap="square">
            <a:spAutoFit/>
          </a:bodyPr>
          <a:lstStyle/>
          <a:p>
            <a:pPr>
              <a:defRPr sz="1250">
                <a:solidFill>
                  <a:srgbClr val="0F172A"/>
                </a:solidFill>
              </a:defRPr>
            </a:pPr>
            <a:r>
              <a:t>• Skincare marketing has historically enforced rigid gender stereotypes.</a:t>
            </a:r>
          </a:p>
          <a:p>
            <a:pPr>
              <a:defRPr sz="1250">
                <a:solidFill>
                  <a:srgbClr val="0F172A"/>
                </a:solidFill>
              </a:defRPr>
            </a:pPr>
          </a:p>
          <a:p>
            <a:pPr>
              <a:defRPr sz="1250">
                <a:solidFill>
                  <a:srgbClr val="0F172A"/>
                </a:solidFill>
              </a:defRPr>
            </a:pPr>
            <a:r>
              <a:t>• Unisex formulations normalize skin wellness for all genders.</a:t>
            </a:r>
          </a:p>
          <a:p>
            <a:pPr>
              <a:defRPr sz="1250">
                <a:solidFill>
                  <a:srgbClr val="0F172A"/>
                </a:solidFill>
              </a:defRPr>
            </a:pPr>
          </a:p>
          <a:p>
            <a:pPr>
              <a:defRPr sz="1250">
                <a:solidFill>
                  <a:srgbClr val="0F172A"/>
                </a:solidFill>
              </a:defRPr>
            </a:pPr>
            <a:r>
              <a:t>• Campaigns must avoid exclusionary or ageist anti-aging panic messaging.</a:t>
            </a:r>
          </a:p>
        </p:txBody>
      </p:sp>
      <p:sp>
        <p:nvSpPr>
          <p:cNvPr id="11" name="Rounded Rectangle 10"/>
          <p:cNvSpPr/>
          <p:nvPr/>
        </p:nvSpPr>
        <p:spPr>
          <a:xfrm>
            <a:off x="8138160" y="1463040"/>
            <a:ext cx="32918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664208"/>
            <a:ext cx="2743200" cy="457200"/>
          </a:xfrm>
          <a:prstGeom prst="rect">
            <a:avLst/>
          </a:prstGeom>
          <a:noFill/>
        </p:spPr>
        <p:txBody>
          <a:bodyPr wrap="square" lIns="0" tIns="0" rIns="0" bIns="0">
            <a:spAutoFit/>
          </a:bodyPr>
          <a:lstStyle/>
          <a:p>
            <a:pPr>
              <a:defRPr sz="1450" b="1">
                <a:solidFill>
                  <a:srgbClr val="0F172A"/>
                </a:solidFill>
              </a:defRPr>
            </a:pPr>
            <a:r>
              <a:t>3. Data Privacy &amp; Governance</a:t>
            </a:r>
          </a:p>
        </p:txBody>
      </p:sp>
      <p:sp>
        <p:nvSpPr>
          <p:cNvPr id="13" name="TextBox 12"/>
          <p:cNvSpPr txBox="1"/>
          <p:nvPr/>
        </p:nvSpPr>
        <p:spPr>
          <a:xfrm>
            <a:off x="8366760" y="2148840"/>
            <a:ext cx="2834640" cy="3840480"/>
          </a:xfrm>
          <a:prstGeom prst="rect">
            <a:avLst/>
          </a:prstGeom>
          <a:noFill/>
        </p:spPr>
        <p:txBody>
          <a:bodyPr wrap="square">
            <a:spAutoFit/>
          </a:bodyPr>
          <a:lstStyle/>
          <a:p>
            <a:pPr>
              <a:defRPr sz="1250">
                <a:solidFill>
                  <a:srgbClr val="0F172A"/>
                </a:solidFill>
              </a:defRPr>
            </a:pPr>
            <a:r>
              <a:t>• All customer data must be collected with transparent opt-in and consent under GDPR/CCPA standards.</a:t>
            </a:r>
          </a:p>
          <a:p>
            <a:pPr>
              <a:defRPr sz="1250">
                <a:solidFill>
                  <a:srgbClr val="0F172A"/>
                </a:solidFill>
              </a:defRPr>
            </a:pPr>
          </a:p>
          <a:p>
            <a:pPr>
              <a:defRPr sz="1250">
                <a:solidFill>
                  <a:srgbClr val="0F172A"/>
                </a:solidFill>
              </a:defRPr>
            </a:pPr>
            <a:r>
              <a:t>• Synthetic data allows safe classroom development without risking exposure of sensitive customer PII.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698480" cy="1005840"/>
          </a:xfrm>
          <a:prstGeom prst="rect">
            <a:avLst/>
          </a:prstGeom>
          <a:noFill/>
        </p:spPr>
        <p:txBody>
          <a:bodyPr wrap="square" lIns="0" tIns="0" rIns="0" bIns="0">
            <a:spAutoFit/>
          </a:bodyPr>
          <a:lstStyle/>
          <a:p>
            <a:pPr>
              <a:defRPr sz="1050" b="1">
                <a:solidFill>
                  <a:srgbClr val="4F46E5"/>
                </a:solidFill>
              </a:defRPr>
            </a:pPr>
            <a:r>
              <a:t>AI COSMETIC PURCHASE PREDICTION</a:t>
            </a:r>
          </a:p>
          <a:p>
            <a:pPr>
              <a:defRPr sz="2200" b="1">
                <a:solidFill>
                  <a:srgbClr val="0F172A"/>
                </a:solidFill>
              </a:defRPr>
            </a:pPr>
            <a:r>
              <a:t>Interactive Application &amp; Core Project Takeaway</a:t>
            </a:r>
          </a:p>
        </p:txBody>
      </p:sp>
      <p:sp>
        <p:nvSpPr>
          <p:cNvPr id="5" name="Rounded Rectangle 4"/>
          <p:cNvSpPr/>
          <p:nvPr/>
        </p:nvSpPr>
        <p:spPr>
          <a:xfrm>
            <a:off x="731520" y="1463040"/>
            <a:ext cx="5120640" cy="4846320"/>
          </a:xfrm>
          <a:prstGeom prst="roundRect">
            <a:avLst/>
          </a:prstGeom>
          <a:solidFill>
            <a:srgbClr val="FFFFFF"/>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64208"/>
            <a:ext cx="4572000" cy="457200"/>
          </a:xfrm>
          <a:prstGeom prst="rect">
            <a:avLst/>
          </a:prstGeom>
          <a:noFill/>
        </p:spPr>
        <p:txBody>
          <a:bodyPr wrap="square" lIns="0" tIns="0" rIns="0" bIns="0">
            <a:spAutoFit/>
          </a:bodyPr>
          <a:lstStyle/>
          <a:p>
            <a:pPr>
              <a:defRPr sz="1450" b="1">
                <a:solidFill>
                  <a:srgbClr val="0F172A"/>
                </a:solidFill>
              </a:defRPr>
            </a:pPr>
            <a:r>
              <a:t>Interactive Streamlit Web Dashboard</a:t>
            </a:r>
          </a:p>
        </p:txBody>
      </p:sp>
      <p:sp>
        <p:nvSpPr>
          <p:cNvPr id="7" name="TextBox 6"/>
          <p:cNvSpPr txBox="1"/>
          <p:nvPr/>
        </p:nvSpPr>
        <p:spPr>
          <a:xfrm>
            <a:off x="1005840" y="2057400"/>
            <a:ext cx="4572000" cy="4023360"/>
          </a:xfrm>
          <a:prstGeom prst="rect">
            <a:avLst/>
          </a:prstGeom>
          <a:noFill/>
        </p:spPr>
        <p:txBody>
          <a:bodyPr wrap="square">
            <a:spAutoFit/>
          </a:bodyPr>
          <a:lstStyle/>
          <a:p>
            <a:pPr>
              <a:defRPr sz="1250">
                <a:solidFill>
                  <a:srgbClr val="0F172A"/>
                </a:solidFill>
              </a:defRPr>
            </a:pPr>
            <a:r>
              <a:t>• 9 Full Interactive Modules:</a:t>
            </a:r>
          </a:p>
          <a:p>
            <a:pPr>
              <a:defRPr sz="1250">
                <a:solidFill>
                  <a:srgbClr val="0F172A"/>
                </a:solidFill>
              </a:defRPr>
            </a:pPr>
            <a:r>
              <a:t>  - Real-time KPIs &amp; conversion metrics</a:t>
            </a:r>
          </a:p>
          <a:p>
            <a:pPr>
              <a:defRPr sz="1250">
                <a:solidFill>
                  <a:srgbClr val="0F172A"/>
                </a:solidFill>
              </a:defRPr>
            </a:pPr>
            <a:r>
              <a:t>  - Expected buyers aggregation with threshold simulator</a:t>
            </a:r>
          </a:p>
          <a:p>
            <a:pPr>
              <a:defRPr sz="1250">
                <a:solidFill>
                  <a:srgbClr val="0F172A"/>
                </a:solidFill>
              </a:defRPr>
            </a:pPr>
            <a:r>
              <a:t>  - Live single-customer purchase predictor</a:t>
            </a:r>
          </a:p>
          <a:p>
            <a:pPr>
              <a:defRPr sz="1250">
                <a:solidFill>
                  <a:srgbClr val="0F172A"/>
                </a:solidFill>
              </a:defRPr>
            </a:pPr>
            <a:r>
              <a:t>  - Multi-model evaluation tables &amp; charts</a:t>
            </a:r>
          </a:p>
          <a:p>
            <a:pPr>
              <a:defRPr sz="1250">
                <a:solidFill>
                  <a:srgbClr val="0F172A"/>
                </a:solidFill>
              </a:defRPr>
            </a:pPr>
            <a:r>
              <a:t>  - Visual tree hierarchies &amp; feature importance plots</a:t>
            </a:r>
          </a:p>
          <a:p>
            <a:pPr>
              <a:defRPr sz="1250">
                <a:solidFill>
                  <a:srgbClr val="0F172A"/>
                </a:solidFill>
              </a:defRPr>
            </a:pPr>
            <a:r>
              <a:t>  - Built-in data dictionary &amp; file explorer</a:t>
            </a:r>
          </a:p>
          <a:p>
            <a:pPr>
              <a:defRPr sz="1250">
                <a:solidFill>
                  <a:srgbClr val="0F172A"/>
                </a:solidFill>
              </a:defRPr>
            </a:pPr>
          </a:p>
          <a:p>
            <a:pPr>
              <a:defRPr sz="1250">
                <a:solidFill>
                  <a:srgbClr val="0F172A"/>
                </a:solidFill>
              </a:defRPr>
            </a:pPr>
            <a:r>
              <a:t>• Run with single command:</a:t>
            </a:r>
          </a:p>
          <a:p>
            <a:pPr>
              <a:defRPr sz="1250">
                <a:solidFill>
                  <a:srgbClr val="0F172A"/>
                </a:solidFill>
              </a:defRPr>
            </a:pPr>
            <a:r>
              <a:t>  streamlit run app.py</a:t>
            </a:r>
          </a:p>
        </p:txBody>
      </p:sp>
      <p:sp>
        <p:nvSpPr>
          <p:cNvPr id="8" name="Rounded Rectangle 7"/>
          <p:cNvSpPr/>
          <p:nvPr/>
        </p:nvSpPr>
        <p:spPr>
          <a:xfrm>
            <a:off x="6217920" y="1463040"/>
            <a:ext cx="5212080" cy="4846320"/>
          </a:xfrm>
          <a:prstGeom prst="roundRect">
            <a:avLst/>
          </a:prstGeom>
          <a:solidFill>
            <a:srgbClr val="0F172A"/>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64208"/>
            <a:ext cx="4663440" cy="457200"/>
          </a:xfrm>
          <a:prstGeom prst="rect">
            <a:avLst/>
          </a:prstGeom>
          <a:noFill/>
        </p:spPr>
        <p:txBody>
          <a:bodyPr wrap="square" lIns="0" tIns="0" rIns="0" bIns="0">
            <a:spAutoFit/>
          </a:bodyPr>
          <a:lstStyle/>
          <a:p>
            <a:pPr>
              <a:defRPr sz="1450" b="1">
                <a:solidFill>
                  <a:srgbClr val="FFFFFF"/>
                </a:solidFill>
              </a:defRPr>
            </a:pPr>
            <a:r>
              <a:t>Key Takeaway (Guide Section 15)</a:t>
            </a:r>
          </a:p>
        </p:txBody>
      </p:sp>
      <p:sp>
        <p:nvSpPr>
          <p:cNvPr id="10" name="TextBox 9"/>
          <p:cNvSpPr txBox="1"/>
          <p:nvPr/>
        </p:nvSpPr>
        <p:spPr>
          <a:xfrm>
            <a:off x="6492240" y="2148840"/>
            <a:ext cx="4663440" cy="3931920"/>
          </a:xfrm>
          <a:prstGeom prst="rect">
            <a:avLst/>
          </a:prstGeom>
          <a:noFill/>
        </p:spPr>
        <p:txBody>
          <a:bodyPr wrap="square">
            <a:spAutoFit/>
          </a:bodyPr>
          <a:lstStyle/>
          <a:p>
            <a:pPr>
              <a:defRPr sz="1300">
                <a:solidFill>
                  <a:srgbClr val="FFFFFF"/>
                </a:solidFill>
              </a:defRPr>
            </a:pPr>
            <a:r>
              <a:t>• The Core Machine Learning Lesson:</a:t>
            </a:r>
          </a:p>
          <a:p>
            <a:pPr>
              <a:defRPr sz="1300">
                <a:solidFill>
                  <a:srgbClr val="FFFFFF"/>
                </a:solidFill>
              </a:defRPr>
            </a:pPr>
            <a:r>
              <a:t>  'The objective is not merely to find an age group. The real AI task is to learn purchase behavior from data, validate the model, estimate purchase likelihood, and use those predictions responsibly to support a business decision.'</a:t>
            </a:r>
          </a:p>
          <a:p>
            <a:pPr>
              <a:defRPr sz="1300">
                <a:solidFill>
                  <a:srgbClr val="FFFFFF"/>
                </a:solidFill>
              </a:defRPr>
            </a:pPr>
          </a:p>
          <a:p>
            <a:pPr>
              <a:defRPr sz="1300">
                <a:solidFill>
                  <a:srgbClr val="FFFFFF"/>
                </a:solidFill>
              </a:defRPr>
            </a:pPr>
            <a:r>
              <a:t>• Business Impact:</a:t>
            </a:r>
          </a:p>
          <a:p>
            <a:pPr>
              <a:defRPr sz="1300">
                <a:solidFill>
                  <a:srgbClr val="FFFFFF"/>
                </a:solidFill>
              </a:defRPr>
            </a:pPr>
            <a:r>
              <a:t>  Transforms raw customer data into actionable, evidence-based marketing strategy that maximizes launch ROI while upholding ethical AI standards.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